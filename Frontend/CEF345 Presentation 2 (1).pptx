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264" r:id="rId3"/>
    <p:sldId id="256" r:id="rId4"/>
    <p:sldId id="257" r:id="rId5"/>
    <p:sldId id="258" r:id="rId6"/>
    <p:sldId id="267" r:id="rId7"/>
    <p:sldId id="259" r:id="rId8"/>
    <p:sldId id="260" r:id="rId9"/>
    <p:sldId id="268" r:id="rId10"/>
    <p:sldId id="269" r:id="rId11"/>
    <p:sldId id="270" r:id="rId12"/>
    <p:sldId id="293" r:id="rId13"/>
    <p:sldId id="261" r:id="rId14"/>
    <p:sldId id="279" r:id="rId15"/>
    <p:sldId id="262" r:id="rId16"/>
    <p:sldId id="280" r:id="rId17"/>
    <p:sldId id="281" r:id="rId18"/>
    <p:sldId id="290" r:id="rId19"/>
    <p:sldId id="282" r:id="rId20"/>
    <p:sldId id="283" r:id="rId21"/>
    <p:sldId id="284" r:id="rId22"/>
    <p:sldId id="291" r:id="rId23"/>
    <p:sldId id="285" r:id="rId24"/>
    <p:sldId id="286" r:id="rId25"/>
    <p:sldId id="287" r:id="rId26"/>
    <p:sldId id="263" r:id="rId27"/>
    <p:sldId id="295" r:id="rId28"/>
    <p:sldId id="313" r:id="rId29"/>
    <p:sldId id="314" r:id="rId30"/>
    <p:sldId id="315" r:id="rId31"/>
    <p:sldId id="294" r:id="rId32"/>
    <p:sldId id="310" r:id="rId33"/>
    <p:sldId id="312" r:id="rId34"/>
    <p:sldId id="316" r:id="rId35"/>
    <p:sldId id="317" r:id="rId36"/>
    <p:sldId id="318" r:id="rId37"/>
    <p:sldId id="319" r:id="rId38"/>
    <p:sldId id="320" r:id="rId39"/>
    <p:sldId id="321" r:id="rId40"/>
    <p:sldId id="322" r:id="rId41"/>
    <p:sldId id="323" r:id="rId42"/>
    <p:sldId id="324" r:id="rId43"/>
    <p:sldId id="325" r:id="rId44"/>
    <p:sldId id="326" r:id="rId45"/>
    <p:sldId id="328" r:id="rId46"/>
    <p:sldId id="329" r:id="rId47"/>
    <p:sldId id="332" r:id="rId48"/>
    <p:sldId id="333" r:id="rId49"/>
    <p:sldId id="334" r:id="rId50"/>
    <p:sldId id="335" r:id="rId51"/>
    <p:sldId id="338" r:id="rId52"/>
    <p:sldId id="336" r:id="rId53"/>
    <p:sldId id="337" r:id="rId54"/>
    <p:sldId id="339" r:id="rId55"/>
    <p:sldId id="340" r:id="rId56"/>
    <p:sldId id="341" r:id="rId57"/>
    <p:sldId id="342" r:id="rId58"/>
    <p:sldId id="343" r:id="rId59"/>
    <p:sldId id="344" r:id="rId60"/>
    <p:sldId id="345" r:id="rId61"/>
    <p:sldId id="346" r:id="rId62"/>
    <p:sldId id="348" r:id="rId63"/>
    <p:sldId id="349" r:id="rId64"/>
    <p:sldId id="350" r:id="rId65"/>
    <p:sldId id="351" r:id="rId66"/>
    <p:sldId id="352" r:id="rId67"/>
    <p:sldId id="353" r:id="rId6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2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69" Type="http://schemas.openxmlformats.org/officeDocument/2006/relationships/notesMaster" Target="notesMasters/notesMaster1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1891030"/>
            <a:ext cx="9144000" cy="1474470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TASK 1</a:t>
            </a:r>
            <a:endParaRPr 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Subtitle 4"/>
          <p:cNvSpPr>
            <a:spLocks noGrp="1" noChangeArrowheads="1"/>
          </p:cNvSpPr>
          <p:nvPr>
            <p:ph type="subTitle" sz="quarter" idx="1"/>
          </p:nvPr>
        </p:nvSpPr>
        <p:spPr/>
        <p:txBody>
          <a:bodyPr/>
          <a:p>
            <a:pPr algn="ctr"/>
            <a:r>
              <a:rPr lang="en-US" b="1" i="1"/>
              <a:t>INTRODUCTION TO SOFTWARE DEVELOPMENT TOOLS</a:t>
            </a:r>
            <a:endParaRPr lang="en-US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2352" y="4039870"/>
            <a:ext cx="11231033" cy="1470025"/>
          </a:xfrm>
        </p:spPr>
        <p:txBody>
          <a:bodyPr/>
          <a:lstStyle/>
          <a:p>
            <a:r>
              <a:rPr lang="zh-CN" altLang="en-US" b="1"/>
              <a:t>Community Service Application</a:t>
            </a:r>
            <a:endParaRPr lang="zh-CN" altLang="en-US" b="1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326515" y="2247900"/>
            <a:ext cx="8534400" cy="1198563"/>
          </a:xfrm>
        </p:spPr>
        <p:txBody>
          <a:bodyPr/>
          <a:lstStyle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“COME SERVE”</a:t>
            </a:r>
            <a:endParaRPr lang="en-US" alt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IS “COME SERVE”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 i="1"/>
              <a:t>Its is a digital platform that connects volunteers to local organizations and community service opportunities. </a:t>
            </a:r>
            <a:endParaRPr lang="en-US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primary goal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b="1" i="1">
              <a:sym typeface="+mn-ea"/>
            </a:endParaRPr>
          </a:p>
          <a:p>
            <a:pPr marL="0" indent="0">
              <a:buNone/>
            </a:pPr>
            <a:endParaRPr lang="en-US" b="1" i="1">
              <a:sym typeface="+mn-ea"/>
            </a:endParaRPr>
          </a:p>
          <a:p>
            <a:pPr marL="0" indent="0">
              <a:buNone/>
            </a:pPr>
            <a:r>
              <a:rPr lang="en-US" b="1" i="1">
                <a:sym typeface="+mn-ea"/>
              </a:rPr>
              <a:t>is to facilitate volunteer participation, support community engagement, and enhance the impact of local initiatives.</a:t>
            </a:r>
            <a:endParaRPr lang="en-US" b="1" i="1"/>
          </a:p>
          <a:p>
            <a:pPr marL="0" indent="0">
              <a:buNone/>
            </a:pPr>
            <a:endParaRPr lang="en-US"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Goals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6207125" cy="1817370"/>
          </a:xfrm>
        </p:spPr>
        <p:txBody>
          <a:bodyPr/>
          <a:p>
            <a:pPr marL="0" indent="0" algn="ctr">
              <a:buNone/>
            </a:pPr>
            <a:r>
              <a:rPr lang="en-US" sz="25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Enhance Community Engagement</a:t>
            </a:r>
            <a:endParaRPr lang="en-US" sz="25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2300" i="1"/>
              <a:t>Foster a culture of volunteerism and civic responsibility.</a:t>
            </a:r>
            <a:endParaRPr lang="en-US" sz="2300" i="1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609600" y="4704715"/>
            <a:ext cx="6207125" cy="19196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Facilitate Collaborations</a:t>
            </a:r>
            <a:endParaRPr lang="en-US" sz="2300" b="1" i="1">
              <a:sym typeface="+mn-ea"/>
            </a:endParaRPr>
          </a:p>
          <a:p>
            <a:pPr marL="0" indent="0" algn="ctr">
              <a:buNone/>
            </a:pPr>
            <a:r>
              <a:rPr lang="en-US" sz="2300" i="1">
                <a:sym typeface="+mn-ea"/>
              </a:rPr>
              <a:t>Connect local organizations with individuals willing to help, improving the effectiveness of community initiatives.</a:t>
            </a:r>
            <a:endParaRPr lang="en-US" sz="2300" i="1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5767705" y="2887345"/>
            <a:ext cx="6207125" cy="181737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Increase Awareness</a:t>
            </a:r>
            <a:endParaRPr lang="en-US" sz="2300" b="1" i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 algn="ctr">
              <a:buNone/>
            </a:pPr>
            <a:r>
              <a:rPr lang="en-US" sz="2300" i="1">
                <a:sym typeface="+mn-ea"/>
              </a:rPr>
              <a:t>Educate users about the various community service needs, encouraging them to participate in causes they care about</a:t>
            </a:r>
            <a:r>
              <a:rPr lang="en-US" sz="2300">
                <a:sym typeface="+mn-ea"/>
              </a:rPr>
              <a:t>.</a:t>
            </a:r>
            <a:endParaRPr lang="en-US" sz="2300"/>
          </a:p>
          <a:p>
            <a:pPr marL="0" indent="0">
              <a:buNone/>
            </a:pPr>
            <a:endParaRPr lang="en-US" sz="2300" i="1"/>
          </a:p>
        </p:txBody>
      </p:sp>
      <p:sp>
        <p:nvSpPr>
          <p:cNvPr id="6" name="Text Box 5"/>
          <p:cNvSpPr txBox="1"/>
          <p:nvPr/>
        </p:nvSpPr>
        <p:spPr>
          <a:xfrm>
            <a:off x="3467100" y="970280"/>
            <a:ext cx="492125" cy="6299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500" b="1"/>
              <a:t>1</a:t>
            </a:r>
            <a:endParaRPr lang="en-US" sz="3500" b="1"/>
          </a:p>
        </p:txBody>
      </p:sp>
      <p:sp>
        <p:nvSpPr>
          <p:cNvPr id="7" name="Text Box 6"/>
          <p:cNvSpPr txBox="1"/>
          <p:nvPr/>
        </p:nvSpPr>
        <p:spPr>
          <a:xfrm>
            <a:off x="8625205" y="2193925"/>
            <a:ext cx="492125" cy="6299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500" b="1"/>
              <a:t>2</a:t>
            </a:r>
            <a:endParaRPr lang="en-US" sz="3500" b="1"/>
          </a:p>
        </p:txBody>
      </p:sp>
      <p:sp>
        <p:nvSpPr>
          <p:cNvPr id="8" name="Text Box 7"/>
          <p:cNvSpPr txBox="1"/>
          <p:nvPr/>
        </p:nvSpPr>
        <p:spPr>
          <a:xfrm>
            <a:off x="3467100" y="4023360"/>
            <a:ext cx="492125" cy="6299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3500" b="1"/>
              <a:t>3</a:t>
            </a:r>
            <a:endParaRPr lang="en-US" sz="35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 Features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User Accounts and Profiles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Registration: 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i="1"/>
              <a:t>Users can create personal profiles with information about their interests, skills, and availability.</a:t>
            </a:r>
            <a:endParaRPr lang="en-US" i="1"/>
          </a:p>
          <a:p>
            <a:pPr marL="0" indent="0">
              <a:buNone/>
            </a:pPr>
            <a:r>
              <a:rPr lang="en-US"/>
              <a:t>   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 algn="r">
              <a:buNone/>
            </a:pP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Volunteer History</a:t>
            </a:r>
            <a:r>
              <a:rPr lang="en-US"/>
              <a:t> </a:t>
            </a:r>
            <a:endParaRPr lang="en-US"/>
          </a:p>
          <a:p>
            <a:pPr marL="0" indent="0" algn="r">
              <a:buNone/>
            </a:pPr>
            <a:r>
              <a:rPr lang="en-US"/>
              <a:t>Users can track their past volunteer activities and accumulated hours.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Event Discovery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93945"/>
          </a:xfrm>
        </p:spPr>
        <p:txBody>
          <a:bodyPr/>
          <a:p>
            <a:pPr marL="0" indent="0" algn="r">
              <a:buNone/>
            </a:pP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Event Listings</a:t>
            </a:r>
            <a:endParaRPr lang="en-US" b="1"/>
          </a:p>
          <a:p>
            <a:pPr marL="0" indent="0" algn="r">
              <a:buNone/>
            </a:pPr>
            <a:r>
              <a:rPr lang="en-US" i="1"/>
              <a:t>Organizations post opportunities for volunteering, including details such as date, time, location, and specific tasks required.</a:t>
            </a:r>
            <a:endParaRPr lang="en-US" i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Search and Filter</a:t>
            </a:r>
            <a:r>
              <a:rPr 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endParaRPr lang="en-US"/>
          </a:p>
          <a:p>
            <a:pPr marL="0" indent="0" algn="l">
              <a:buNone/>
            </a:pPr>
            <a:r>
              <a:rPr lang="en-US" i="1"/>
              <a:t>Users can search for events based on categories </a:t>
            </a:r>
            <a:endParaRPr lang="en-US" i="1"/>
          </a:p>
          <a:p>
            <a:pPr marL="0" indent="0" algn="l">
              <a:buNone/>
            </a:pPr>
            <a:r>
              <a:rPr lang="en-US" i="1"/>
              <a:t>(e.g., education, environment, health) and filter by date or location.</a:t>
            </a:r>
            <a:endParaRPr lang="en-US"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Feedback and Reviews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480907" y="524510"/>
            <a:ext cx="11231033" cy="1470025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  <a:endParaRPr 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Subtit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80695" y="1994535"/>
            <a:ext cx="3783330" cy="694690"/>
          </a:xfrm>
        </p:spPr>
        <p:txBody>
          <a:bodyPr/>
          <a:p>
            <a:r>
              <a:rPr lang="en-US" b="1"/>
              <a:t>TEAM MEMBER</a:t>
            </a:r>
            <a:endParaRPr lang="en-US" b="1"/>
          </a:p>
        </p:txBody>
      </p:sp>
      <p:sp>
        <p:nvSpPr>
          <p:cNvPr id="5" name="Text Box 4"/>
          <p:cNvSpPr txBox="1"/>
          <p:nvPr/>
        </p:nvSpPr>
        <p:spPr>
          <a:xfrm>
            <a:off x="732155" y="2689225"/>
            <a:ext cx="383984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r>
              <a:rPr lang="en-US" b="1"/>
              <a:t>ASONGAFAC DESTINY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NGUALEA VIOLEI ASONGU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BANYIN MARCEL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NANA FELIZ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MAVEL</a:t>
            </a:r>
            <a:endParaRPr lang="en-US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 noChangeArrowheads="1"/>
          </p:cNvSpPr>
          <p:nvPr>
            <p:ph type="ctrTitle" sz="quarter"/>
          </p:nvPr>
        </p:nvSpPr>
        <p:spPr>
          <a:xfrm>
            <a:off x="480907" y="1715770"/>
            <a:ext cx="11231033" cy="1470025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TASK 2</a:t>
            </a:r>
            <a:endParaRPr 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Subtit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77060" y="3603625"/>
            <a:ext cx="8534400" cy="1198563"/>
          </a:xfrm>
        </p:spPr>
        <p:txBody>
          <a:bodyPr/>
          <a:p>
            <a:pPr algn="ctr"/>
            <a:r>
              <a:rPr lang="en-US" b="1" i="1"/>
              <a:t>VERSION CONTROL WITH GITHUB</a:t>
            </a:r>
            <a:endParaRPr lang="en-US" b="1"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44170" y="2070100"/>
            <a:ext cx="11231245" cy="918210"/>
          </a:xfrm>
        </p:spPr>
        <p:txBody>
          <a:bodyPr/>
          <a:lstStyle/>
          <a:p>
            <a:r>
              <a:rPr lang="zh-CN" altLang="en-US" b="1" i="1"/>
              <a:t>Community Service Application</a:t>
            </a:r>
            <a:endParaRPr lang="zh-CN" altLang="en-US" b="1" i="1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407920" y="871220"/>
            <a:ext cx="7598410" cy="1198880"/>
          </a:xfrm>
        </p:spPr>
        <p:txBody>
          <a:bodyPr/>
          <a:lstStyle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“COME SERVE”</a:t>
            </a:r>
            <a:endParaRPr lang="en-US" alt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12140" y="1286510"/>
            <a:ext cx="1795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i="1"/>
              <a:t>RECAP</a:t>
            </a:r>
            <a:endParaRPr lang="en-US" b="1" i="1"/>
          </a:p>
        </p:txBody>
      </p:sp>
      <p:sp>
        <p:nvSpPr>
          <p:cNvPr id="6" name="Text Box 5"/>
          <p:cNvSpPr txBox="1"/>
          <p:nvPr/>
        </p:nvSpPr>
        <p:spPr>
          <a:xfrm>
            <a:off x="2030730" y="3521075"/>
            <a:ext cx="785812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00" b="1" i="1">
                <a:sym typeface="+mn-ea"/>
              </a:rPr>
              <a:t>Its is a digital platform that connects volunteers to local organizations and community service opportunities.</a:t>
            </a:r>
            <a:endParaRPr lang="en-US" sz="22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 to Version control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sz="2500" b="1"/>
          </a:p>
          <a:p>
            <a:r>
              <a:rPr lang="en-US" sz="2500" b="1"/>
              <a:t>Version control helps for tracking and managing changes to files over time</a:t>
            </a:r>
            <a:endParaRPr lang="en-US" sz="2500" b="1"/>
          </a:p>
          <a:p>
            <a:r>
              <a:rPr lang="en-US" sz="2500" b="1"/>
              <a:t>Allows multiple people to collaborate and work on files without overwritting each other’s work</a:t>
            </a:r>
            <a:endParaRPr lang="en-US" sz="2500" b="1"/>
          </a:p>
          <a:p>
            <a:r>
              <a:rPr lang="en-US" sz="2500" b="1"/>
              <a:t>Git handles local versioning</a:t>
            </a:r>
            <a:endParaRPr lang="en-US" sz="25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8128"/>
            <a:ext cx="10972800" cy="1143000"/>
          </a:xfrm>
        </p:spPr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Objectives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33525"/>
            <a:ext cx="10972800" cy="4525963"/>
          </a:xfrm>
        </p:spPr>
        <p:txBody>
          <a:bodyPr/>
          <a:p>
            <a:endParaRPr lang="en-US" sz="2500" b="1"/>
          </a:p>
          <a:p>
            <a:r>
              <a:rPr lang="en-US" sz="2500" b="1"/>
              <a:t>Understand Git fundamentals</a:t>
            </a:r>
            <a:endParaRPr lang="en-US" sz="2500" b="1"/>
          </a:p>
          <a:p>
            <a:r>
              <a:rPr lang="en-US" sz="2500" b="1"/>
              <a:t>Learn collaboration workflow using GitHub</a:t>
            </a:r>
            <a:endParaRPr lang="en-US" sz="2500" b="1"/>
          </a:p>
          <a:p>
            <a:r>
              <a:rPr lang="en-US" sz="2500" b="1"/>
              <a:t>Demonstarate teamwork through commits, branches, and pull requests</a:t>
            </a:r>
            <a:endParaRPr lang="en-US" sz="2500" b="1"/>
          </a:p>
          <a:p>
            <a:pPr marL="0" indent="0">
              <a:buNone/>
            </a:pPr>
            <a:endParaRPr lang="en-US" sz="25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 Git Commands				02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3699510" cy="1584325"/>
          </a:xfrm>
        </p:spPr>
        <p:txBody>
          <a:bodyPr/>
          <a:p>
            <a:pPr marL="0" indent="0">
              <a:buNone/>
            </a:pPr>
            <a:r>
              <a:rPr lang="en-US" sz="2500" b="1" i="1"/>
              <a:t>git init</a:t>
            </a:r>
            <a:endParaRPr lang="en-US" sz="2500"/>
          </a:p>
          <a:p>
            <a:pPr marL="0" indent="0">
              <a:buNone/>
            </a:pPr>
            <a:endParaRPr lang="en-US" sz="2500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6499860" y="4001770"/>
            <a:ext cx="5504815" cy="158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i="1">
                <a:sym typeface="+mn-ea"/>
              </a:rPr>
              <a:t>git commit -m ‘initiative commit’</a:t>
            </a:r>
            <a:endParaRPr lang="en-US" sz="2500" b="1" i="1">
              <a:sym typeface="+mn-ea"/>
            </a:endParaRP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7486015" y="1727200"/>
            <a:ext cx="3699510" cy="158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i="1">
                <a:sym typeface="+mn-ea"/>
              </a:rPr>
              <a:t>git add</a:t>
            </a:r>
            <a:endParaRPr lang="en-US" sz="2500" b="1" i="1">
              <a:sym typeface="+mn-ea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609600" y="4001770"/>
            <a:ext cx="3699510" cy="158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i="1">
                <a:sym typeface="+mn-ea"/>
              </a:rPr>
              <a:t>git push origin main</a:t>
            </a:r>
            <a:endParaRPr lang="en-US" sz="2500" b="1" i="1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Key Git Commands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609600" y="1600200"/>
            <a:ext cx="3699510" cy="158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i="1"/>
              <a:t>git pull</a:t>
            </a:r>
            <a:endParaRPr lang="en-US" sz="2500"/>
          </a:p>
          <a:p>
            <a:pPr marL="0" indent="0">
              <a:buNone/>
            </a:pPr>
            <a:endParaRPr lang="en-US" sz="2500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7486015" y="4001770"/>
            <a:ext cx="4518660" cy="158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i="1">
                <a:sym typeface="+mn-ea"/>
              </a:rPr>
              <a:t>git merge &lt;branch-name&gt;</a:t>
            </a:r>
            <a:endParaRPr lang="en-US" sz="2500" b="1" i="1">
              <a:sym typeface="+mn-ea"/>
            </a:endParaRPr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7348220" y="1693545"/>
            <a:ext cx="4630420" cy="158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i="1">
                <a:sym typeface="+mn-ea"/>
              </a:rPr>
              <a:t>git branch &lt;branch-name&gt;</a:t>
            </a:r>
            <a:endParaRPr lang="en-US" sz="2500" b="1" i="1">
              <a:sym typeface="+mn-ea"/>
            </a:endParaRPr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609600" y="4001770"/>
            <a:ext cx="5037455" cy="158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i="1">
                <a:sym typeface="+mn-ea"/>
              </a:rPr>
              <a:t>git chackout &lt;branch-name&gt;</a:t>
            </a:r>
            <a:endParaRPr lang="en-US" sz="2500" b="1" i="1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Collaboration workflow 		</a:t>
            </a: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03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>
              <a:buAutoNum type="arabicPeriod"/>
            </a:pPr>
            <a:r>
              <a:rPr lang="en-US" sz="2500" b="1"/>
              <a:t>Each member create a new branch.</a:t>
            </a:r>
            <a:endParaRPr lang="en-US" sz="2500" b="1"/>
          </a:p>
          <a:p>
            <a:pPr marL="457200" indent="-457200">
              <a:buAutoNum type="arabicPeriod"/>
            </a:pPr>
            <a:r>
              <a:rPr lang="en-US" sz="2500" b="1"/>
              <a:t>Adds new code or documentation.</a:t>
            </a:r>
            <a:endParaRPr lang="en-US" sz="2500" b="1"/>
          </a:p>
          <a:p>
            <a:pPr marL="457200" indent="-457200">
              <a:buAutoNum type="arabicPeriod"/>
            </a:pPr>
            <a:r>
              <a:rPr lang="en-US" sz="2500" b="1"/>
              <a:t>Pushes their branch to GitHub.</a:t>
            </a:r>
            <a:endParaRPr lang="en-US" sz="2500" b="1"/>
          </a:p>
          <a:p>
            <a:pPr marL="457200" indent="-457200">
              <a:buAutoNum type="arabicPeriod"/>
            </a:pPr>
            <a:r>
              <a:rPr lang="en-US" sz="2500" b="1"/>
              <a:t>Opens a pull request (PR) for review.</a:t>
            </a:r>
            <a:endParaRPr lang="en-US" sz="2500" b="1"/>
          </a:p>
          <a:p>
            <a:pPr marL="457200" indent="-457200">
              <a:buAutoNum type="arabicPeriod"/>
            </a:pPr>
            <a:r>
              <a:rPr lang="en-US" sz="2500" b="1"/>
              <a:t>Project lead merges changes into the main branch.</a:t>
            </a:r>
            <a:endParaRPr lang="en-US" sz="25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GitHub Demonstration			04	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950" y="1579245"/>
            <a:ext cx="10972800" cy="696595"/>
          </a:xfrm>
        </p:spPr>
        <p:txBody>
          <a:bodyPr/>
          <a:p>
            <a:r>
              <a:rPr lang="en-US" sz="2500" i="1"/>
              <a:t>Repository: </a:t>
            </a:r>
            <a:r>
              <a:rPr lang="en-US" sz="2500" b="1" i="1"/>
              <a:t>Community_Volunteer</a:t>
            </a:r>
            <a:endParaRPr lang="en-US" sz="2500" i="1"/>
          </a:p>
        </p:txBody>
      </p:sp>
      <p:sp>
        <p:nvSpPr>
          <p:cNvPr id="4" name="Curved Left Arrow 3"/>
          <p:cNvSpPr/>
          <p:nvPr/>
        </p:nvSpPr>
        <p:spPr>
          <a:xfrm rot="19440000">
            <a:off x="7767955" y="861695"/>
            <a:ext cx="1698625" cy="366649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Screenshot_2025-11-16_05_02_23"/>
          <p:cNvPicPr>
            <a:picLocks noChangeAspect="1"/>
          </p:cNvPicPr>
          <p:nvPr/>
        </p:nvPicPr>
        <p:blipFill>
          <a:blip r:embed="rId1"/>
          <a:srcRect l="341" t="20635" r="61218" b="44592"/>
          <a:stretch>
            <a:fillRect/>
          </a:stretch>
        </p:blipFill>
        <p:spPr>
          <a:xfrm>
            <a:off x="2978150" y="2275840"/>
            <a:ext cx="5410835" cy="43802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3535" y="726440"/>
            <a:ext cx="3029585" cy="608330"/>
          </a:xfrm>
        </p:spPr>
        <p:txBody>
          <a:bodyPr/>
          <a:p>
            <a:r>
              <a:rPr lang="en-US" sz="2500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Repository</a:t>
            </a:r>
            <a:endParaRPr lang="en-US" sz="2500" b="1" i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403975" y="601980"/>
            <a:ext cx="4173855" cy="857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80604020202020204" pitchFamily="34" charset="0"/>
                <a:ea typeface="SimSun" pitchFamily="2" charset="-122"/>
              </a:defRPr>
            </a:lvl9pPr>
          </a:lstStyle>
          <a:p>
            <a:pPr algn="r"/>
            <a:r>
              <a:rPr lang="en-US" sz="2500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Team member commits</a:t>
            </a:r>
            <a:endParaRPr lang="en-US" sz="2500" b="1" i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5" descr="Screenshot_2025-11-16_05_02_23"/>
          <p:cNvPicPr>
            <a:picLocks noChangeAspect="1"/>
          </p:cNvPicPr>
          <p:nvPr/>
        </p:nvPicPr>
        <p:blipFill>
          <a:blip r:embed="rId1"/>
          <a:srcRect l="-165" t="5015" r="1175" b="9703"/>
          <a:stretch>
            <a:fillRect/>
          </a:stretch>
        </p:blipFill>
        <p:spPr>
          <a:xfrm>
            <a:off x="1162050" y="1776730"/>
            <a:ext cx="9867900" cy="47326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GitHub outcome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26440" y="1729740"/>
            <a:ext cx="10972800" cy="746760"/>
          </a:xfrm>
        </p:spPr>
        <p:txBody>
          <a:bodyPr/>
          <a:p>
            <a:r>
              <a:rPr lang="en-US" sz="2500" i="1"/>
              <a:t>merge into the main branch</a:t>
            </a:r>
            <a:endParaRPr lang="en-US" sz="2500" i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Learning Outcome 				05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500" b="1"/>
              <a:t>Strengthened Teamwork via GitHub collaboration</a:t>
            </a:r>
            <a:endParaRPr lang="en-US" sz="2500" b="1"/>
          </a:p>
          <a:p>
            <a:r>
              <a:rPr lang="en-US" sz="2500" b="1"/>
              <a:t>Understood basic Git commands like Branching, merging and Pull Requests</a:t>
            </a:r>
            <a:endParaRPr lang="en-US" sz="2500" b="1"/>
          </a:p>
          <a:p>
            <a:r>
              <a:rPr lang="en-US" sz="2500" b="1"/>
              <a:t>Practive professional Development Workflow</a:t>
            </a:r>
            <a:endParaRPr lang="en-US" sz="25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Conclusion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500" b="1" i="1"/>
              <a:t>With the goals of this week being archived, we can be certain that there is progress in our gollaboration skills with Git and GitHub, which is a key step in realizing this project.</a:t>
            </a:r>
            <a:endParaRPr lang="en-US" sz="2500" b="1" i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480907" y="524510"/>
            <a:ext cx="11231033" cy="1470025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  <a:endParaRPr 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Subtit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80695" y="1994535"/>
            <a:ext cx="3783330" cy="694690"/>
          </a:xfrm>
        </p:spPr>
        <p:txBody>
          <a:bodyPr/>
          <a:p>
            <a:r>
              <a:rPr lang="en-US" b="1"/>
              <a:t>TEAM MEMBER</a:t>
            </a:r>
            <a:endParaRPr lang="en-US" b="1"/>
          </a:p>
        </p:txBody>
      </p:sp>
      <p:sp>
        <p:nvSpPr>
          <p:cNvPr id="5" name="Text Box 4"/>
          <p:cNvSpPr txBox="1"/>
          <p:nvPr/>
        </p:nvSpPr>
        <p:spPr>
          <a:xfrm>
            <a:off x="732155" y="2689225"/>
            <a:ext cx="383984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r>
              <a:rPr lang="en-US" b="1"/>
              <a:t>ASONGAFAC DESTINY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NGUALEA VIOLEI ASONGU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BANYIN MARCEL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NANA FELIZ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MAVEL</a:t>
            </a:r>
            <a:endParaRPr lang="en-US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8"/>
          <p:cNvSpPr>
            <a:spLocks noGrp="1" noChangeArrowheads="1"/>
          </p:cNvSpPr>
          <p:nvPr>
            <p:ph type="ctrTitle" sz="quarter"/>
          </p:nvPr>
        </p:nvSpPr>
        <p:spPr>
          <a:xfrm>
            <a:off x="480907" y="1715770"/>
            <a:ext cx="11231033" cy="1470025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TASK 3</a:t>
            </a:r>
            <a:endParaRPr 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Subtitle 4"/>
          <p:cNvSpPr>
            <a:spLocks noGrp="1" noChangeArrowheads="1"/>
          </p:cNvSpPr>
          <p:nvPr/>
        </p:nvSpPr>
        <p:spPr>
          <a:xfrm>
            <a:off x="1877060" y="3603625"/>
            <a:ext cx="8534400" cy="11985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5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35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>
                <a:sym typeface="+mn-ea"/>
              </a:rPr>
              <a:t>AGILE DEVELOPMENT METHODOLOGY, WITH SCRUM</a:t>
            </a:r>
            <a:endParaRPr lang="en-US" b="1" i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91185" y="3869690"/>
            <a:ext cx="11231245" cy="1972945"/>
          </a:xfrm>
        </p:spPr>
        <p:txBody>
          <a:bodyPr/>
          <a:lstStyle/>
          <a:p>
            <a:pPr algn="l"/>
            <a:r>
              <a:rPr lang="en-US" altLang="zh-CN" sz="2900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Task 01.</a:t>
            </a:r>
            <a:r>
              <a:rPr lang="en-US" altLang="zh-CN" sz="2900" b="1" i="1"/>
              <a:t>	introduction</a:t>
            </a:r>
            <a:br>
              <a:rPr lang="en-US" altLang="zh-CN" sz="2900" b="1" i="1"/>
            </a:br>
            <a:r>
              <a:rPr lang="en-US" altLang="zh-CN" sz="2900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Task 02.</a:t>
            </a:r>
            <a:r>
              <a:rPr lang="en-US" altLang="zh-CN" sz="2900" b="1" i="1"/>
              <a:t>	version control with git and GitHub</a:t>
            </a:r>
            <a:br>
              <a:rPr lang="en-US" altLang="zh-CN" sz="2900" b="1" i="1"/>
            </a:br>
            <a:br>
              <a:rPr lang="en-US" altLang="zh-CN" sz="2900" b="1" i="1"/>
            </a:br>
            <a:r>
              <a:rPr lang="en-US" altLang="zh-CN" sz="29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Today: </a:t>
            </a:r>
            <a:r>
              <a:rPr lang="en-US" sz="2900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AGILE DEVELOPMENT METHODOLOGY, WITH SCRUM</a:t>
            </a:r>
            <a:endParaRPr lang="en-US" altLang="zh-CN" sz="2900" b="1" i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407920" y="871220"/>
            <a:ext cx="7598410" cy="1198880"/>
          </a:xfrm>
        </p:spPr>
        <p:txBody>
          <a:bodyPr/>
          <a:lstStyle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“COME SERVE”</a:t>
            </a:r>
            <a:endParaRPr lang="en-US" alt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12140" y="1286510"/>
            <a:ext cx="1795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i="1"/>
              <a:t>RECAP</a:t>
            </a:r>
            <a:endParaRPr lang="en-US" b="1" i="1"/>
          </a:p>
        </p:txBody>
      </p:sp>
      <p:sp>
        <p:nvSpPr>
          <p:cNvPr id="6" name="Text Box 5"/>
          <p:cNvSpPr txBox="1"/>
          <p:nvPr/>
        </p:nvSpPr>
        <p:spPr>
          <a:xfrm>
            <a:off x="1750695" y="2378075"/>
            <a:ext cx="89122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00" b="1" i="1">
                <a:sym typeface="+mn-ea"/>
              </a:rPr>
              <a:t>Its is a digital platform that connects volunteers to local organizations and community service opportunities.</a:t>
            </a:r>
            <a:endParaRPr lang="en-US" sz="22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AGENDA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What is Agile?</a:t>
            </a:r>
            <a:endParaRPr lang="en-US"/>
          </a:p>
          <a:p>
            <a:r>
              <a:rPr lang="en-US"/>
              <a:t>Introduction to the Scrum Framework</a:t>
            </a:r>
            <a:endParaRPr lang="en-US"/>
          </a:p>
          <a:p>
            <a:r>
              <a:rPr lang="en-US"/>
              <a:t>Scrum Roles &amp; Responsibilities</a:t>
            </a:r>
            <a:endParaRPr lang="en-US"/>
          </a:p>
          <a:p>
            <a:r>
              <a:rPr lang="en-US"/>
              <a:t>Scrum Events</a:t>
            </a:r>
            <a:endParaRPr lang="en-US"/>
          </a:p>
          <a:p>
            <a:r>
              <a:rPr lang="en-US"/>
              <a:t>Our Tool: Trello.io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IS AGILE?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i="1"/>
              <a:t>AGILE is a project management aproach that emphasizes flexibility, collaboration and continuous delivery.</a:t>
            </a:r>
            <a:endParaRPr lang="en-US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The agile values:</a:t>
            </a:r>
            <a:endParaRPr lang="en-US" b="1"/>
          </a:p>
          <a:p>
            <a:pPr marL="0" indent="0">
              <a:buNone/>
            </a:pPr>
            <a:r>
              <a:rPr lang="en-US" i="1"/>
              <a:t> </a:t>
            </a:r>
            <a:r>
              <a:rPr lang="en-US" i="1">
                <a:sym typeface="+mn-ea"/>
              </a:rPr>
              <a:t> · </a:t>
            </a:r>
            <a:r>
              <a:rPr lang="en-US" i="1"/>
              <a:t>Individuals and Interactions over processes and tools</a:t>
            </a:r>
            <a:endParaRPr lang="en-US" i="1"/>
          </a:p>
          <a:p>
            <a:pPr marL="0" indent="0">
              <a:buNone/>
            </a:pPr>
            <a:r>
              <a:rPr lang="en-US" i="1"/>
              <a:t>  · Working Software over comprehensive documentation</a:t>
            </a:r>
            <a:endParaRPr lang="en-US" i="1"/>
          </a:p>
          <a:p>
            <a:pPr marL="0" indent="0">
              <a:buNone/>
            </a:pPr>
            <a:r>
              <a:rPr lang="en-US" i="1"/>
              <a:t>  · Customer Collaboration over contract negotiation</a:t>
            </a:r>
            <a:endParaRPr lang="en-US" i="1"/>
          </a:p>
          <a:p>
            <a:pPr marL="0" indent="0">
              <a:buNone/>
            </a:pPr>
            <a:r>
              <a:rPr lang="en-US" i="1"/>
              <a:t>  · Responding to Change over following a plan</a:t>
            </a:r>
            <a:endParaRPr lang="en-US" i="1"/>
          </a:p>
          <a:p>
            <a:pPr marL="0" indent="0">
              <a:buNone/>
            </a:pPr>
            <a:endParaRPr lang="en-US" i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Why it Matters for "Come Serve"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Our project requirements are detailed but can evolve.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We need to deliver working features incrementally.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It allows us to get feedback early and adapt.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IS SCRUM? 				02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Scrum is a lightweight, iterative, and continous Agile framework for managing complex project development.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Three Scrum Roles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b="1"/>
              <a:t>1. The Product Owner</a:t>
            </a:r>
            <a:endParaRPr lang="en-US" b="1"/>
          </a:p>
          <a:p>
            <a:pPr marL="0" indent="0">
              <a:buNone/>
            </a:pPr>
            <a:endParaRPr lang="en-US"/>
          </a:p>
          <a:p>
            <a:r>
              <a:rPr lang="en-US"/>
              <a:t>Represents the stakeholders and the voice of the customer.</a:t>
            </a:r>
            <a:endParaRPr lang="en-US"/>
          </a:p>
          <a:p>
            <a:r>
              <a:rPr lang="en-US"/>
              <a:t>Defines the features of the product (the "What").</a:t>
            </a:r>
            <a:endParaRPr lang="en-US"/>
          </a:p>
          <a:p>
            <a:r>
              <a:rPr lang="en-US"/>
              <a:t>Manages the Product Backlog.</a:t>
            </a:r>
            <a:endParaRPr lang="en-US"/>
          </a:p>
          <a:p>
            <a:r>
              <a:rPr lang="en-US"/>
              <a:t>For "Come Serve": Both team members share this role, defining features from our project document.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b="1">
                <a:sym typeface="+mn-ea"/>
              </a:rPr>
              <a:t>2. The Development Team</a:t>
            </a:r>
            <a:endParaRPr lang="en-US" b="1"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· A cross-functional group who do the work of delivering a "Done" increment.</a:t>
            </a:r>
            <a:endParaRPr lang="en-US"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· Self-organizing; decides how to get the work done.</a:t>
            </a:r>
            <a:endParaRPr lang="en-US"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· For "Come Serve": we all are the developers.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b="1">
                <a:sym typeface="+mn-ea"/>
              </a:rPr>
              <a:t>3. The Scrum Master</a:t>
            </a:r>
            <a:endParaRPr lang="en-US" b="1">
              <a:sym typeface="+mn-ea"/>
            </a:endParaRP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>
                <a:sym typeface="+mn-ea"/>
              </a:rPr>
              <a:t>  · Ensures the team follows Scrum theory, rules, and practices.</a:t>
            </a:r>
            <a:endParaRPr lang="en-US"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· Removes impediments for the team.</a:t>
            </a:r>
            <a:endParaRPr lang="en-US"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· For "Come Serve": We will rotate this role weekly.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Our Tool of Choice: </a:t>
            </a:r>
            <a:r>
              <a:rPr lang="en-US" b="1"/>
              <a:t>Trello.io	</a:t>
            </a: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03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WHY?</a:t>
            </a:r>
            <a:endParaRPr lang="en-US"/>
          </a:p>
          <a:p>
            <a:endParaRPr lang="en-US"/>
          </a:p>
          <a:p>
            <a:r>
              <a:rPr lang="en-US"/>
              <a:t>It has a Freemium plan with powerful features</a:t>
            </a:r>
            <a:endParaRPr lang="en-US"/>
          </a:p>
          <a:p>
            <a:endParaRPr lang="en-US"/>
          </a:p>
          <a:p>
            <a:r>
              <a:rPr lang="en-US"/>
              <a:t>Excellent support for Scrum.</a:t>
            </a:r>
            <a:endParaRPr lang="en-US"/>
          </a:p>
          <a:p>
            <a:endParaRPr lang="en-US"/>
          </a:p>
          <a:p>
            <a:r>
              <a:rPr lang="en-US"/>
              <a:t>Easy to understand interface for managing </a:t>
            </a:r>
            <a:r>
              <a:rPr lang="en-US" b="1"/>
              <a:t>User Stories, Sprints, and Tasks.</a:t>
            </a:r>
            <a:endParaRPr lang="en-US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collaboration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Content Placeholder 3" descr="c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31025" y="1666240"/>
            <a:ext cx="4472940" cy="35261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54075" y="1521460"/>
            <a:ext cx="6077585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80604020202020204" pitchFamily="34" charset="0"/>
              <a:buChar char="•"/>
            </a:pPr>
            <a:r>
              <a:rPr lang="en-US" sz="2500"/>
              <a:t>Everyone was invited via email so we can all track our work and progress from our indiviual PC and locations.</a:t>
            </a:r>
            <a:endParaRPr lang="en-US" sz="2500"/>
          </a:p>
          <a:p>
            <a:endParaRPr lang="en-US" sz="2500"/>
          </a:p>
          <a:p>
            <a:endParaRPr lang="en-US" sz="2500"/>
          </a:p>
          <a:p>
            <a:pPr marL="342900" indent="-342900">
              <a:buFont typeface="Arial" panose="02080604020202020204" pitchFamily="34" charset="0"/>
              <a:buChar char="•"/>
            </a:pPr>
            <a:r>
              <a:rPr lang="en-US" sz="2500"/>
              <a:t>We have an admin who oversees the collaboration workflow while others are members</a:t>
            </a:r>
            <a:endParaRPr lang="en-US" sz="2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TASKS TO BE DONE WITH TRELLO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9305290" cy="2292985"/>
          </a:xfrm>
        </p:spPr>
        <p:txBody>
          <a:bodyPr/>
          <a:p>
            <a:r>
              <a:rPr lang="en-US" i="1"/>
              <a:t>different </a:t>
            </a:r>
            <a:r>
              <a:rPr lang="en-US" b="1" i="1"/>
              <a:t>cards </a:t>
            </a:r>
            <a:r>
              <a:rPr lang="en-US" i="1"/>
              <a:t>were created for tracking our workflow, ensuring progress and ease management</a:t>
            </a:r>
            <a:endParaRPr lang="en-US" i="1"/>
          </a:p>
        </p:txBody>
      </p:sp>
      <p:sp>
        <p:nvSpPr>
          <p:cNvPr id="7" name="Content Placeholder 6"/>
          <p:cNvSpPr/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8" name="Content Placeholder 5" descr="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940" y="3784600"/>
            <a:ext cx="6971030" cy="2279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DIFFERENT CARDS CREATED: </a:t>
            </a: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04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6385"/>
            <a:ext cx="6999605" cy="4648835"/>
          </a:xfrm>
        </p:spPr>
        <p:txBody>
          <a:bodyPr/>
          <a:p>
            <a:pPr marL="0" indent="0">
              <a:buNone/>
            </a:pPr>
            <a:r>
              <a:rPr lang="en-US" sz="25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TO-DO</a:t>
            </a:r>
            <a:endParaRPr lang="en-US" sz="25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25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 of activities about to be done. helps us progress continuously.</a:t>
            </a:r>
            <a:endParaRPr lang="en-US" sz="2500" b="1" i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en-US" sz="25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25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DOING</a:t>
            </a:r>
            <a:endParaRPr lang="en-US" sz="25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25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we currently working on. In progress tasks</a:t>
            </a:r>
            <a:endParaRPr lang="en-US" sz="25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sz="25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25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DONE</a:t>
            </a:r>
            <a:endParaRPr lang="en-US" sz="25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25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completed activities</a:t>
            </a:r>
            <a:endParaRPr lang="en-US" sz="25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sz="25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Picture 6" descr="c4"/>
          <p:cNvPicPr>
            <a:picLocks noChangeAspect="1"/>
          </p:cNvPicPr>
          <p:nvPr/>
        </p:nvPicPr>
        <p:blipFill>
          <a:blip r:embed="rId1"/>
          <a:srcRect l="-64228" r="41175" b="7738"/>
          <a:stretch>
            <a:fillRect/>
          </a:stretch>
        </p:blipFill>
        <p:spPr>
          <a:xfrm>
            <a:off x="-412750" y="4107815"/>
            <a:ext cx="12409170" cy="240855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629285"/>
            <a:ext cx="6492875" cy="5497195"/>
          </a:xfrm>
        </p:spPr>
        <p:txBody>
          <a:bodyPr/>
          <a:p>
            <a:pPr marL="0" indent="0">
              <a:buNone/>
            </a:pPr>
            <a:r>
              <a:rPr lang="en-US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PRODUCT BACKLOCK</a:t>
            </a:r>
            <a:endParaRPr lang="en-US" i="1">
              <a:sym typeface="+mn-ea"/>
            </a:endParaRPr>
          </a:p>
          <a:p>
            <a:pPr marL="0" indent="0">
              <a:buNone/>
            </a:pPr>
            <a:r>
              <a:rPr lang="en-US" i="1"/>
              <a:t>list of tasks to be done based on the user’s feedbacks and reviews</a:t>
            </a:r>
            <a:endParaRPr lang="en-US" i="1"/>
          </a:p>
          <a:p>
            <a:pPr marL="0" indent="0">
              <a:buNone/>
            </a:pPr>
            <a:endParaRPr lang="en-US" i="1"/>
          </a:p>
          <a:p>
            <a:pPr marL="0" indent="0">
              <a:buNone/>
            </a:pPr>
            <a:endParaRPr lang="en-US" i="1"/>
          </a:p>
          <a:p>
            <a:pPr marL="0" indent="0">
              <a:buNone/>
            </a:pPr>
            <a:r>
              <a:rPr lang="en-US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SPRING BACKLOCH</a:t>
            </a:r>
            <a:endParaRPr lang="en-US" b="1" i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 of tasks and items that the our team will be commited to doing</a:t>
            </a:r>
            <a:endParaRPr lang="en-US" i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 descr="c4"/>
          <p:cNvPicPr>
            <a:picLocks noChangeAspect="1"/>
          </p:cNvPicPr>
          <p:nvPr/>
        </p:nvPicPr>
        <p:blipFill>
          <a:blip r:embed="rId1"/>
          <a:srcRect l="58424" t="-1613" r="-58520" b="-1613"/>
          <a:stretch>
            <a:fillRect/>
          </a:stretch>
        </p:blipFill>
        <p:spPr>
          <a:xfrm>
            <a:off x="7102475" y="2432685"/>
            <a:ext cx="10498455" cy="207899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1213465" cy="4526280"/>
          </a:xfrm>
        </p:spPr>
        <p:txBody>
          <a:bodyPr/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IN PPROGTRESS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en-US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we are currently working on</a:t>
            </a:r>
            <a:endParaRPr lang="en-US" i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TESTING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en-US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confirming functionality of the completed tasks</a:t>
            </a:r>
            <a:endParaRPr lang="en-US" i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SPRINT ONE						</a:t>
            </a: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05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850" y="1717040"/>
            <a:ext cx="9004300" cy="4526280"/>
          </a:xfrm>
        </p:spPr>
        <p:txBody>
          <a:bodyPr/>
          <a:p>
            <a:pPr marL="0" indent="0">
              <a:buNone/>
            </a:pPr>
            <a:r>
              <a:rPr lang="en-US" i="1"/>
              <a:t>A sprint is a </a:t>
            </a:r>
            <a:r>
              <a:rPr lang="en-US" i="1">
                <a:sym typeface="+mn-ea"/>
              </a:rPr>
              <a:t>priority </a:t>
            </a:r>
            <a:r>
              <a:rPr lang="en-US" i="1"/>
              <a:t>task to be done within a short period of time, usually 1 to 4 weeks.</a:t>
            </a:r>
            <a:endParaRPr lang="en-US" i="1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 i="1"/>
              <a:t>for our project, our prefered sprint will be 1 to 2 week</a:t>
            </a:r>
            <a:endParaRPr lang="en-US" b="1" i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SPRINT ONE: </a:t>
            </a: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TASKS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703195"/>
            <a:ext cx="5376545" cy="2619375"/>
          </a:xfrm>
        </p:spPr>
        <p:txBody>
          <a:bodyPr/>
          <a:p>
            <a:pPr marL="0" indent="0">
              <a:buNone/>
            </a:pPr>
            <a:r>
              <a:rPr lang="en-US"/>
              <a:t>The first activity of our sprint is focused on </a:t>
            </a:r>
            <a:r>
              <a:rPr lang="en-US" b="1"/>
              <a:t>USER REGISTRATION </a:t>
            </a:r>
            <a:r>
              <a:rPr lang="en-US"/>
              <a:t>with details as shown on the image beside</a:t>
            </a:r>
            <a:endParaRPr lang="en-US"/>
          </a:p>
        </p:txBody>
      </p:sp>
      <p:pic>
        <p:nvPicPr>
          <p:cNvPr id="7" name="Content Placeholder 6" descr="Capture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272530" y="1762125"/>
            <a:ext cx="6602095" cy="450151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ym typeface="+mn-ea"/>
              </a:rPr>
              <a:t>SPRINT ONE: </a:t>
            </a:r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TASKS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632075"/>
            <a:ext cx="5677535" cy="2453005"/>
          </a:xfrm>
        </p:spPr>
        <p:txBody>
          <a:bodyPr/>
          <a:p>
            <a:pPr marL="0" indent="0">
              <a:buNone/>
            </a:pPr>
            <a:r>
              <a:rPr lang="en-US"/>
              <a:t>Our next activity on sprint one is the </a:t>
            </a:r>
            <a:r>
              <a:rPr lang="en-US" b="1"/>
              <a:t>USER LOGIN </a:t>
            </a:r>
            <a:r>
              <a:rPr lang="en-US"/>
              <a:t>with more details shown on the image beside</a:t>
            </a:r>
            <a:endParaRPr lang="en-US"/>
          </a:p>
        </p:txBody>
      </p:sp>
      <p:pic>
        <p:nvPicPr>
          <p:cNvPr id="5" name="Content Placeholder 4" descr="pic 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506845" y="1417955"/>
            <a:ext cx="6931660" cy="48818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SPRINT TWO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800" cy="4526280"/>
          </a:xfrm>
        </p:spPr>
        <p:txBody>
          <a:bodyPr/>
          <a:p>
            <a:pPr marL="0" indent="0">
              <a:buNone/>
            </a:pPr>
            <a:r>
              <a:rPr lang="en-US"/>
              <a:t>The next activity for our project will be the sprint two, were we will: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Demonstrating IDE setup and run codes</a:t>
            </a:r>
            <a:endParaRPr lang="en-US"/>
          </a:p>
          <a:p>
            <a:r>
              <a:rPr lang="en-US"/>
              <a:t>and practice debugging in VS code</a:t>
            </a:r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Conclusion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3000" i="1"/>
              <a:t>In conclusion, we have effectively transformed </a:t>
            </a:r>
            <a:r>
              <a:rPr lang="en-US" sz="3000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Come Serve</a:t>
            </a:r>
            <a:r>
              <a:rPr lang="en-US" sz="3000" i="1"/>
              <a:t> from a concept into a fully operational Agile project.</a:t>
            </a:r>
            <a:endParaRPr lang="en-US" sz="3000" i="1"/>
          </a:p>
          <a:p>
            <a:pPr marL="0" indent="0">
              <a:buNone/>
            </a:pPr>
            <a:endParaRPr lang="en-US" sz="3000" i="1"/>
          </a:p>
          <a:p>
            <a:pPr marL="0" indent="0">
              <a:buNone/>
            </a:pPr>
            <a:r>
              <a:rPr lang="en-US" sz="3000" i="1"/>
              <a:t>Establishing our Scrum framework, setting up and prioritizing our Trello Product Backlog, completing our first Sprint Planning with a clear Sprint Goal and actionable tasks, and aligning every line of code to strategic user stories.</a:t>
            </a:r>
            <a:endParaRPr lang="en-US" sz="3000" i="1"/>
          </a:p>
          <a:p>
            <a:pPr marL="0" indent="0">
              <a:buNone/>
            </a:pPr>
            <a:endParaRPr lang="en-US" sz="3000" i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480907" y="524510"/>
            <a:ext cx="11231033" cy="1470025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  <a:endParaRPr 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Subtit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80695" y="1994535"/>
            <a:ext cx="3783330" cy="694690"/>
          </a:xfrm>
        </p:spPr>
        <p:txBody>
          <a:bodyPr/>
          <a:p>
            <a:r>
              <a:rPr lang="en-US" b="1"/>
              <a:t>TEAM MEMBER</a:t>
            </a:r>
            <a:endParaRPr lang="en-US" b="1"/>
          </a:p>
        </p:txBody>
      </p:sp>
      <p:sp>
        <p:nvSpPr>
          <p:cNvPr id="5" name="Text Box 4"/>
          <p:cNvSpPr txBox="1"/>
          <p:nvPr/>
        </p:nvSpPr>
        <p:spPr>
          <a:xfrm>
            <a:off x="732155" y="2689225"/>
            <a:ext cx="383984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r>
              <a:rPr lang="en-US" b="1"/>
              <a:t>ASONGAFAC DESTINY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NGUALEA VIOLEI ASONGU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BANYIN MARCEL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NSEMEN PHILLIS NANA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NWUFOR MAVELLOUS</a:t>
            </a:r>
            <a:endParaRPr lang="en-US" b="1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8"/>
          <p:cNvSpPr>
            <a:spLocks noGrp="1" noChangeArrowheads="1"/>
          </p:cNvSpPr>
          <p:nvPr>
            <p:ph type="ctrTitle" sz="quarter"/>
          </p:nvPr>
        </p:nvSpPr>
        <p:spPr>
          <a:xfrm>
            <a:off x="480907" y="1715770"/>
            <a:ext cx="11231033" cy="1470025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TASK 4</a:t>
            </a:r>
            <a:endParaRPr 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Subtitle 4"/>
          <p:cNvSpPr>
            <a:spLocks noGrp="1" noChangeArrowheads="1"/>
          </p:cNvSpPr>
          <p:nvPr/>
        </p:nvSpPr>
        <p:spPr>
          <a:xfrm>
            <a:off x="1877060" y="3603625"/>
            <a:ext cx="8534400" cy="11985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lvl="1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5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lvl="2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35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lvl="3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lvl="4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lvl="5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lvl="6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lvl="7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lvl="8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>
                <a:sym typeface="+mn-ea"/>
              </a:rPr>
              <a:t>INTEGRATED DEVELOPMENT ENVIRONMENT (IDE)</a:t>
            </a:r>
            <a:endParaRPr lang="en-US" b="1" i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80060" y="3352165"/>
            <a:ext cx="11231245" cy="2591435"/>
          </a:xfrm>
        </p:spPr>
        <p:txBody>
          <a:bodyPr/>
          <a:lstStyle/>
          <a:p>
            <a:pPr algn="l"/>
            <a:r>
              <a:rPr lang="en-US" altLang="zh-CN" sz="2900" b="1" i="1">
                <a:solidFill>
                  <a:schemeClr val="bg1">
                    <a:lumMod val="50000"/>
                  </a:schemeClr>
                </a:solidFill>
                <a:effectLst/>
                <a:sym typeface="+mn-ea"/>
              </a:rPr>
              <a:t>previously...</a:t>
            </a:r>
            <a:br>
              <a:rPr lang="en-US" altLang="zh-CN" sz="2900" b="1" i="1">
                <a:solidFill>
                  <a:schemeClr val="bg1">
                    <a:lumMod val="50000"/>
                  </a:schemeClr>
                </a:solidFill>
                <a:effectLst/>
                <a:sym typeface="+mn-ea"/>
              </a:rPr>
            </a:br>
            <a:br>
              <a:rPr lang="en-US" altLang="zh-CN" sz="2900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</a:br>
            <a:r>
              <a:rPr lang="en-US" altLang="zh-CN" sz="2900" b="1" i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Task 03.	</a:t>
            </a:r>
            <a:r>
              <a:rPr lang="en-US" altLang="zh-CN" sz="2900" b="1" i="1">
                <a:sym typeface="+mn-ea"/>
              </a:rPr>
              <a:t>Agile development methodology with scrum</a:t>
            </a:r>
            <a:br>
              <a:rPr lang="en-US" altLang="zh-CN" sz="2900" b="1" i="1"/>
            </a:br>
            <a:br>
              <a:rPr lang="en-US" altLang="zh-CN" sz="2900" b="1" i="1"/>
            </a:br>
            <a:r>
              <a:rPr lang="en-US" altLang="zh-CN" sz="29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Today: </a:t>
            </a:r>
            <a:r>
              <a:rPr lang="en-US" sz="2900" b="1" i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INTEGRATED DEVELOPMENT ENVIRONMENT (IDE)</a:t>
            </a:r>
            <a:endParaRPr lang="en-US" altLang="zh-CN" sz="2900" b="1" i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407920" y="871220"/>
            <a:ext cx="7598410" cy="1198880"/>
          </a:xfrm>
        </p:spPr>
        <p:txBody>
          <a:bodyPr/>
          <a:lstStyle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“COME SERVE”</a:t>
            </a:r>
            <a:endParaRPr lang="en-US" alt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12140" y="1286510"/>
            <a:ext cx="1795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i="1"/>
              <a:t>RECAP</a:t>
            </a:r>
            <a:endParaRPr lang="en-US" b="1" i="1"/>
          </a:p>
        </p:txBody>
      </p:sp>
      <p:sp>
        <p:nvSpPr>
          <p:cNvPr id="6" name="Text Box 5"/>
          <p:cNvSpPr txBox="1"/>
          <p:nvPr/>
        </p:nvSpPr>
        <p:spPr>
          <a:xfrm>
            <a:off x="1750695" y="2378075"/>
            <a:ext cx="89122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200" b="1" i="1">
                <a:sym typeface="+mn-ea"/>
              </a:rPr>
              <a:t>Its is a digital platform that connects volunteers to local organizations and community service opportunities.</a:t>
            </a:r>
            <a:endParaRPr lang="en-US" sz="2200"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AGENDA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introduction to IDE</a:t>
            </a:r>
            <a:endParaRPr lang="en-US"/>
          </a:p>
          <a:p>
            <a:r>
              <a:rPr lang="en-US"/>
              <a:t>introduction to VS Code</a:t>
            </a:r>
            <a:endParaRPr lang="en-US"/>
          </a:p>
          <a:p>
            <a:r>
              <a:rPr lang="en-US"/>
              <a:t>obtaining VS code</a:t>
            </a:r>
            <a:endParaRPr lang="en-US"/>
          </a:p>
          <a:p>
            <a:r>
              <a:rPr lang="en-US"/>
              <a:t>basic setting up</a:t>
            </a:r>
            <a:endParaRPr lang="en-US"/>
          </a:p>
          <a:p>
            <a:r>
              <a:rPr lang="en-US"/>
              <a:t>demo</a:t>
            </a:r>
            <a:endParaRPr lang="en-US"/>
          </a:p>
          <a:p>
            <a:r>
              <a:rPr lang="en-US"/>
              <a:t>conclusion</a:t>
            </a:r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pPr algn="r"/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INTRODUCTION</a:t>
            </a:r>
            <a:endParaRPr lang="en-US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6362700" cy="4526280"/>
          </a:xfrm>
        </p:spPr>
        <p:txBody>
          <a:bodyPr/>
          <a:p>
            <a:pPr marL="0" indent="0">
              <a:buNone/>
            </a:pPr>
            <a:r>
              <a:rPr lang="en-US" b="1"/>
              <a:t>WHAT IS AN </a:t>
            </a:r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IDE</a:t>
            </a:r>
            <a:endParaRPr lang="en-US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sz="20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3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 a </a:t>
            </a:r>
            <a:r>
              <a:rPr lang="en-US" sz="3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software application </a:t>
            </a:r>
            <a:r>
              <a:rPr lang="en-US" sz="3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that combines essential tools for software development into </a:t>
            </a:r>
            <a:r>
              <a:rPr lang="en-US" sz="3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one interface</a:t>
            </a:r>
            <a:r>
              <a:rPr lang="en-US" sz="3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boost productivity</a:t>
            </a:r>
            <a:endParaRPr lang="en-US" sz="3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Content Placeholder 4" descr="what is an IDE"/>
          <p:cNvPicPr>
            <a:picLocks noChangeAspect="1"/>
          </p:cNvPicPr>
          <p:nvPr>
            <p:ph sz="half" idx="2"/>
          </p:nvPr>
        </p:nvPicPr>
        <p:blipFill>
          <a:blip r:embed="rId1"/>
          <a:srcRect l="-3600" t="-10938" r="42548" b="5889"/>
          <a:stretch>
            <a:fillRect/>
          </a:stretch>
        </p:blipFill>
        <p:spPr>
          <a:xfrm>
            <a:off x="6780530" y="1600200"/>
            <a:ext cx="4801870" cy="417639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IMPORTANCE OF IDEs</a:t>
            </a:r>
            <a:endParaRPr lang="en-US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Content Placeholder 5" descr="importanc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4970" y="1799590"/>
            <a:ext cx="10767695" cy="389763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TYPES OF IDE</a:t>
            </a:r>
            <a:endParaRPr lang="en-US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2" name="Content Placeholder 11" descr="types of ID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10360" y="1417955"/>
            <a:ext cx="8970645" cy="503999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OUR CHOICE OF IDE				02</a:t>
            </a:r>
            <a:endParaRPr lang="en-US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31203" y="1550353"/>
            <a:ext cx="5157787" cy="823912"/>
          </a:xfrm>
        </p:spPr>
        <p:txBody>
          <a:bodyPr/>
          <a:p>
            <a:r>
              <a:rPr lang="en-US" sz="3000"/>
              <a:t>VISUAL STUDIO CODE</a:t>
            </a:r>
            <a:endParaRPr lang="en-US" sz="300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731520" y="2635885"/>
            <a:ext cx="6113780" cy="3512185"/>
          </a:xfrm>
        </p:spPr>
        <p:txBody>
          <a:bodyPr/>
          <a:p>
            <a:endParaRPr lang="en-US" sz="2700" i="1"/>
          </a:p>
          <a:p>
            <a:pPr marL="0" indent="0">
              <a:buNone/>
            </a:pPr>
            <a:r>
              <a:rPr lang="en-US" sz="2700" i="1"/>
              <a:t>It is a </a:t>
            </a:r>
            <a:r>
              <a:rPr lang="en-US" sz="2700" b="1" i="1"/>
              <a:t>free and powerful</a:t>
            </a:r>
            <a:r>
              <a:rPr lang="en-US" sz="2700" i="1"/>
              <a:t> source-code editor developed by </a:t>
            </a:r>
            <a:r>
              <a:rPr lang="en-US" sz="2700" b="1" i="1"/>
              <a:t>Microsoft </a:t>
            </a:r>
            <a:r>
              <a:rPr lang="en-US" sz="2700" i="1"/>
              <a:t>and publishes on </a:t>
            </a:r>
            <a:r>
              <a:rPr lang="en-US" sz="2700" b="1" i="1"/>
              <a:t>April 29, 2015</a:t>
            </a:r>
            <a:endParaRPr lang="en-US" sz="2700" b="1" i="1"/>
          </a:p>
          <a:p>
            <a:pPr marL="0" indent="0">
              <a:buNone/>
            </a:pPr>
            <a:endParaRPr lang="en-US" sz="2700" b="1" i="1"/>
          </a:p>
          <a:p>
            <a:pPr marL="0" indent="0">
              <a:buNone/>
            </a:pPr>
            <a:r>
              <a:rPr lang="en-US" sz="2700" i="1"/>
              <a:t>The current stable version is 1.106.0, released on November 12, 2025. </a:t>
            </a:r>
            <a:endParaRPr lang="en-US" sz="2700" i="1"/>
          </a:p>
        </p:txBody>
      </p:sp>
      <p:pic>
        <p:nvPicPr>
          <p:cNvPr id="8" name="Content Placeholder 7" descr="vs code logo"/>
          <p:cNvPicPr>
            <a:picLocks noChangeAspect="1"/>
          </p:cNvPicPr>
          <p:nvPr>
            <p:ph sz="quarter" idx="4"/>
          </p:nvPr>
        </p:nvPicPr>
        <p:blipFill>
          <a:blip r:embed="rId1"/>
          <a:stretch>
            <a:fillRect/>
          </a:stretch>
        </p:blipFill>
        <p:spPr>
          <a:xfrm>
            <a:off x="6845300" y="1691005"/>
            <a:ext cx="4344035" cy="434403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WHY DID WE CHOOSE VS CODE?</a:t>
            </a:r>
            <a:endParaRPr lang="en-US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" name="Content Placeholder 9" descr="WHY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218565" y="1892300"/>
            <a:ext cx="3941445" cy="3941445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5829300" y="1186180"/>
            <a:ext cx="5376545" cy="5033010"/>
          </a:xfrm>
        </p:spPr>
        <p:txBody>
          <a:bodyPr/>
          <a:p>
            <a:pPr>
              <a:lnSpc>
                <a:spcPct val="200000"/>
              </a:lnSpc>
            </a:pPr>
            <a:r>
              <a:rPr lang="en-US" sz="2500" i="1"/>
              <a:t>Free and Open-Source</a:t>
            </a:r>
            <a:endParaRPr lang="en-US" sz="2500" i="1"/>
          </a:p>
          <a:p>
            <a:pPr>
              <a:lnSpc>
                <a:spcPct val="200000"/>
              </a:lnSpc>
            </a:pPr>
            <a:r>
              <a:rPr lang="en-US" sz="2500" i="1"/>
              <a:t>Cross-Platform Compatibility</a:t>
            </a:r>
            <a:endParaRPr lang="en-US" sz="2500" i="1"/>
          </a:p>
          <a:p>
            <a:pPr>
              <a:lnSpc>
                <a:spcPct val="200000"/>
              </a:lnSpc>
            </a:pPr>
            <a:r>
              <a:rPr lang="en-US" sz="2500" i="1"/>
              <a:t>Lightweight yet Powerful</a:t>
            </a:r>
            <a:endParaRPr lang="en-US" sz="2500" i="1"/>
          </a:p>
          <a:p>
            <a:pPr>
              <a:lnSpc>
                <a:spcPct val="200000"/>
              </a:lnSpc>
            </a:pPr>
            <a:r>
              <a:rPr lang="en-US" sz="2500" i="1"/>
              <a:t>Vast Extension Ecosystem</a:t>
            </a:r>
            <a:endParaRPr lang="en-US" sz="2500" i="1"/>
          </a:p>
          <a:p>
            <a:pPr>
              <a:lnSpc>
                <a:spcPct val="200000"/>
              </a:lnSpc>
            </a:pPr>
            <a:r>
              <a:rPr lang="en-US" sz="2500" i="1"/>
              <a:t>Integrated Git Support</a:t>
            </a:r>
            <a:endParaRPr lang="en-US" sz="2500" i="1"/>
          </a:p>
          <a:p>
            <a:pPr>
              <a:lnSpc>
                <a:spcPct val="200000"/>
              </a:lnSpc>
            </a:pPr>
            <a:r>
              <a:rPr lang="en-US" sz="2500" i="1"/>
              <a:t>Integrated Terminal</a:t>
            </a:r>
            <a:endParaRPr lang="en-US" sz="2500" i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274955"/>
            <a:ext cx="12296140" cy="1143000"/>
          </a:xfrm>
        </p:spPr>
        <p:txBody>
          <a:bodyPr/>
          <a:p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HOW TO GET VS CODE </a:t>
            </a:r>
            <a:r>
              <a:rPr 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(windows)		</a:t>
            </a:r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03</a:t>
            </a:r>
            <a:endParaRPr lang="en-US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4010" y="1600200"/>
            <a:ext cx="7176770" cy="4526280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sz="2700"/>
              <a:t>Download the installer </a:t>
            </a:r>
            <a:r>
              <a:rPr lang="en-US" sz="2700" i="1">
                <a:solidFill>
                  <a:schemeClr val="bg1">
                    <a:lumMod val="75000"/>
                  </a:schemeClr>
                </a:solidFill>
              </a:rPr>
              <a:t>(https://code.visualstudio.com/download)</a:t>
            </a:r>
            <a:endParaRPr lang="en-US" sz="2700" i="1"/>
          </a:p>
          <a:p>
            <a:pPr>
              <a:lnSpc>
                <a:spcPct val="150000"/>
              </a:lnSpc>
            </a:pPr>
            <a:r>
              <a:rPr lang="en-US" sz="2700"/>
              <a:t>Run the installer</a:t>
            </a:r>
            <a:endParaRPr lang="en-US" sz="2700"/>
          </a:p>
          <a:p>
            <a:pPr>
              <a:lnSpc>
                <a:spcPct val="150000"/>
              </a:lnSpc>
            </a:pPr>
            <a:r>
              <a:rPr lang="en-US" sz="2700"/>
              <a:t>Accept the license agreement</a:t>
            </a:r>
            <a:endParaRPr lang="en-US" sz="2700"/>
          </a:p>
          <a:p>
            <a:pPr>
              <a:lnSpc>
                <a:spcPct val="150000"/>
              </a:lnSpc>
            </a:pPr>
            <a:r>
              <a:rPr lang="en-US" sz="2700"/>
              <a:t>Choose install location (optional)</a:t>
            </a:r>
            <a:endParaRPr lang="en-US" sz="2700"/>
          </a:p>
          <a:p>
            <a:pPr>
              <a:lnSpc>
                <a:spcPct val="150000"/>
              </a:lnSpc>
            </a:pPr>
            <a:r>
              <a:rPr lang="en-US" sz="2700"/>
              <a:t>follow steps...</a:t>
            </a:r>
            <a:endParaRPr lang="en-US" sz="2700"/>
          </a:p>
        </p:txBody>
      </p:sp>
      <p:pic>
        <p:nvPicPr>
          <p:cNvPr id="5" name="Content Placeholder 4" descr="windows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510780" y="2258060"/>
            <a:ext cx="3209925" cy="320992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HOW TO GET VS CODE </a:t>
            </a:r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(linux)</a:t>
            </a:r>
            <a:endParaRPr lang="en-US"/>
          </a:p>
        </p:txBody>
      </p:sp>
      <p:pic>
        <p:nvPicPr>
          <p:cNvPr id="6" name="Content Placeholder 5" descr="Screenshot_2025-11-27_01_24_03"/>
          <p:cNvPicPr>
            <a:picLocks noChangeAspect="1"/>
          </p:cNvPicPr>
          <p:nvPr>
            <p:ph sz="half" idx="1"/>
          </p:nvPr>
        </p:nvPicPr>
        <p:blipFill>
          <a:blip r:embed="rId1"/>
          <a:srcRect l="9281" t="19891" r="56147" b="-8575"/>
          <a:stretch>
            <a:fillRect/>
          </a:stretch>
        </p:blipFill>
        <p:spPr>
          <a:xfrm>
            <a:off x="831850" y="1209040"/>
            <a:ext cx="7223760" cy="7406640"/>
          </a:xfrm>
          <a:prstGeom prst="rect">
            <a:avLst/>
          </a:prstGeom>
        </p:spPr>
      </p:pic>
      <p:pic>
        <p:nvPicPr>
          <p:cNvPr id="5" name="Content Placeholder 4" descr="linux"/>
          <p:cNvPicPr>
            <a:picLocks noChangeAspect="1"/>
          </p:cNvPicPr>
          <p:nvPr>
            <p:ph sz="half" idx="2"/>
          </p:nvPr>
        </p:nvPicPr>
        <p:blipFill>
          <a:blip r:embed="rId2"/>
          <a:srcRect l="26871" t="290" r="25748" b="-2081"/>
          <a:stretch>
            <a:fillRect/>
          </a:stretch>
        </p:blipFill>
        <p:spPr>
          <a:xfrm>
            <a:off x="8306435" y="2094865"/>
            <a:ext cx="3108960" cy="353695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BASIC VS-CODE SET-UP			04</a:t>
            </a:r>
            <a:endParaRPr lang="en-US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82700"/>
            <a:ext cx="10972800" cy="5257165"/>
          </a:xfrm>
        </p:spPr>
        <p:txBody>
          <a:bodyPr/>
          <a:p>
            <a:pPr marL="0" indent="0">
              <a:buNone/>
            </a:pPr>
            <a:r>
              <a:rPr lang="en-US" b="1"/>
              <a:t>Step 1: Install Visual Studio Code </a:t>
            </a:r>
            <a:r>
              <a:rPr lang="en-US" i="1"/>
              <a:t>(Explain above)</a:t>
            </a:r>
            <a:endParaRPr lang="en-US" b="1" i="1"/>
          </a:p>
          <a:p>
            <a:pPr marL="0" indent="0">
              <a:buNone/>
            </a:pPr>
            <a:r>
              <a:rPr lang="en-US" b="1"/>
              <a:t>Step 2: Set up Your Workspace</a:t>
            </a:r>
            <a:endParaRPr lang="en-US"/>
          </a:p>
          <a:p>
            <a:pPr marL="0" indent="0">
              <a:buNone/>
            </a:pPr>
            <a:r>
              <a:rPr lang="en-US" sz="2500" i="1"/>
              <a:t>VS Code is designed to work with project folders rather than individual files</a:t>
            </a:r>
            <a:endParaRPr lang="en-US" sz="2500" i="1"/>
          </a:p>
          <a:p>
            <a:pPr>
              <a:buFont typeface="Wingdings" charset="0"/>
              <a:buChar char=""/>
            </a:pPr>
            <a:endParaRPr lang="en-US" sz="2500" i="1"/>
          </a:p>
          <a:p>
            <a:pPr>
              <a:buFont typeface="Wingdings" charset="0"/>
              <a:buChar char=""/>
            </a:pPr>
            <a:r>
              <a:rPr lang="en-US" sz="2500" i="1"/>
              <a:t>- Create a new folder on your computer for your project files.</a:t>
            </a:r>
            <a:endParaRPr lang="en-US" sz="2500" i="1"/>
          </a:p>
          <a:p>
            <a:pPr>
              <a:buFont typeface="Wingdings" charset="0"/>
              <a:buChar char=""/>
            </a:pPr>
            <a:endParaRPr lang="en-US" sz="2500" i="1"/>
          </a:p>
          <a:p>
            <a:pPr>
              <a:buFont typeface="Wingdings" charset="0"/>
              <a:buChar char=""/>
            </a:pPr>
            <a:r>
              <a:rPr lang="en-US" sz="2500" i="1"/>
              <a:t>- In VS Code, go to File &gt; Open Folder (or Open... on macOS) and select the folder you created.</a:t>
            </a:r>
            <a:endParaRPr lang="en-US" sz="2500" i="1"/>
          </a:p>
          <a:p>
            <a:pPr>
              <a:buFont typeface="Wingdings" charset="0"/>
              <a:buChar char=""/>
            </a:pPr>
            <a:endParaRPr lang="en-US" sz="2500" i="1"/>
          </a:p>
          <a:p>
            <a:pPr>
              <a:buFont typeface="Wingdings" charset="0"/>
              <a:buChar char=""/>
            </a:pPr>
            <a:r>
              <a:rPr lang="en-US" sz="2500" i="1"/>
              <a:t>- If prompted about Workspace Trust, select "Yes, I trust the authors" to enable all features within that workspace. </a:t>
            </a:r>
            <a:endParaRPr lang="en-US" sz="2500" i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BASIC VS-CODE SET-UP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2707005"/>
          </a:xfrm>
        </p:spPr>
        <p:txBody>
          <a:bodyPr/>
          <a:p>
            <a:r>
              <a:rPr lang="en-US" b="1"/>
              <a:t>Step 3: Install Essential Extensions</a:t>
            </a:r>
            <a:endParaRPr lang="en-US" b="1"/>
          </a:p>
          <a:p>
            <a:pPr marL="0" indent="0">
              <a:buNone/>
            </a:pPr>
            <a:r>
              <a:rPr lang="en-US" i="1"/>
              <a:t>Extensions are key to customizing VS Code for our specific needs, adding language support, debuggers, and tools</a:t>
            </a:r>
            <a:endParaRPr lang="en-US" i="1"/>
          </a:p>
          <a:p>
            <a:pPr marL="0" indent="0">
              <a:buNone/>
            </a:pPr>
            <a:endParaRPr lang="en-US" i="1"/>
          </a:p>
          <a:p>
            <a:pPr marL="0" indent="0">
              <a:buNone/>
            </a:pPr>
            <a:r>
              <a:rPr lang="en-US" i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Extensions relevant to our project:</a:t>
            </a:r>
            <a:endParaRPr lang="en-US" i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sz="2500" i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421755" y="4780915"/>
            <a:ext cx="3840480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342900" indent="-342900" algn="l">
              <a:buFont typeface="Arial" panose="02080604020202020204" pitchFamily="34" charset="0"/>
              <a:buChar char="•"/>
            </a:pPr>
            <a:r>
              <a:rPr lang="en-US" sz="2500" b="1" i="1">
                <a:sym typeface="+mn-ea"/>
              </a:rPr>
              <a:t>Live Share 		</a:t>
            </a:r>
            <a:endParaRPr lang="en-US" sz="2500" b="1" i="1">
              <a:sym typeface="+mn-ea"/>
            </a:endParaRPr>
          </a:p>
          <a:p>
            <a:pPr marL="342900" indent="-342900" algn="l">
              <a:buFont typeface="Arial" panose="02080604020202020204" pitchFamily="34" charset="0"/>
              <a:buChar char="•"/>
            </a:pPr>
            <a:r>
              <a:rPr lang="en-US" sz="2500" b="1" i="1">
                <a:sym typeface="+mn-ea"/>
              </a:rPr>
              <a:t>GitLens</a:t>
            </a:r>
            <a:endParaRPr lang="en-US" sz="2500" b="1" i="1">
              <a:sym typeface="+mn-ea"/>
            </a:endParaRPr>
          </a:p>
          <a:p>
            <a:pPr marL="342900" indent="-342900" algn="l">
              <a:buFont typeface="Arial" panose="02080604020202020204" pitchFamily="34" charset="0"/>
              <a:buChar char="•"/>
            </a:pPr>
            <a:r>
              <a:rPr lang="en-US" sz="2500" b="1" i="1">
                <a:sym typeface="+mn-ea"/>
              </a:rPr>
              <a:t>IntelliSense</a:t>
            </a:r>
            <a:endParaRPr lang="en-US" sz="2500" b="1" i="1">
              <a:sym typeface="+mn-ea"/>
            </a:endParaRPr>
          </a:p>
          <a:p>
            <a:pPr marL="342900" indent="-342900" algn="l">
              <a:buFont typeface="Arial" panose="02080604020202020204" pitchFamily="34" charset="0"/>
              <a:buChar char="•"/>
            </a:pPr>
            <a:r>
              <a:rPr lang="en-US" sz="2500" b="1" i="1">
                <a:sym typeface="+mn-ea"/>
              </a:rPr>
              <a:t>VS code icons</a:t>
            </a:r>
            <a:endParaRPr lang="en-US" sz="2500"/>
          </a:p>
        </p:txBody>
      </p:sp>
      <p:sp>
        <p:nvSpPr>
          <p:cNvPr id="5" name="Text Box 4"/>
          <p:cNvSpPr txBox="1"/>
          <p:nvPr/>
        </p:nvSpPr>
        <p:spPr>
          <a:xfrm>
            <a:off x="2140585" y="4588510"/>
            <a:ext cx="3891280" cy="2014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buFont typeface="Arial" panose="02080604020202020204" pitchFamily="34" charset="0"/>
              <a:buChar char="•"/>
            </a:pPr>
            <a:r>
              <a:rPr lang="en-US" sz="2500" b="1" i="1">
                <a:sym typeface="+mn-ea"/>
              </a:rPr>
              <a:t>copilot</a:t>
            </a:r>
            <a:endParaRPr lang="en-US" sz="2500" b="1" i="1">
              <a:sym typeface="+mn-ea"/>
            </a:endParaRPr>
          </a:p>
          <a:p>
            <a:pPr marL="342900" indent="-342900" algn="l">
              <a:buFont typeface="Arial" panose="02080604020202020204" pitchFamily="34" charset="0"/>
              <a:buChar char="•"/>
            </a:pPr>
            <a:r>
              <a:rPr lang="en-US" sz="2500" b="1" i="1">
                <a:sym typeface="+mn-ea"/>
              </a:rPr>
              <a:t>liveserver</a:t>
            </a:r>
            <a:endParaRPr lang="en-US" sz="2500" b="1" i="1">
              <a:sym typeface="+mn-ea"/>
            </a:endParaRPr>
          </a:p>
          <a:p>
            <a:pPr marL="342900" indent="-342900" algn="l">
              <a:buFont typeface="Arial" panose="02080604020202020204" pitchFamily="34" charset="0"/>
              <a:buChar char="•"/>
            </a:pPr>
            <a:r>
              <a:rPr lang="en-US" sz="2500" b="1" i="1">
                <a:sym typeface="+mn-ea"/>
              </a:rPr>
              <a:t>project manager</a:t>
            </a:r>
            <a:endParaRPr lang="en-US" sz="2500" b="1" i="1">
              <a:sym typeface="+mn-ea"/>
            </a:endParaRPr>
          </a:p>
          <a:p>
            <a:pPr marL="342900" indent="-342900" algn="l">
              <a:buFont typeface="Arial" panose="02080604020202020204" pitchFamily="34" charset="0"/>
              <a:buChar char="•"/>
            </a:pPr>
            <a:r>
              <a:rPr lang="en-US" sz="2500" b="1" i="1">
                <a:sym typeface="+mn-ea"/>
              </a:rPr>
              <a:t>GitHub</a:t>
            </a:r>
            <a:endParaRPr lang="en-US" sz="2500" b="1" i="1">
              <a:sym typeface="+mn-ea"/>
            </a:endParaRPr>
          </a:p>
          <a:p>
            <a:pPr marL="342900" indent="-342900" algn="l">
              <a:buFont typeface="Arial" panose="02080604020202020204" pitchFamily="34" charset="0"/>
              <a:buChar char="•"/>
            </a:pPr>
            <a:r>
              <a:rPr lang="en-US" sz="2500" b="1" i="1">
                <a:sym typeface="+mn-ea"/>
              </a:rPr>
              <a:t>live code</a:t>
            </a:r>
            <a:endParaRPr lang="en-US" sz="25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BASIC VS-CODE SET-UP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50620"/>
            <a:ext cx="10972800" cy="5327015"/>
          </a:xfrm>
        </p:spPr>
        <p:txBody>
          <a:bodyPr/>
          <a:p>
            <a:pPr marL="0" indent="0">
              <a:buNone/>
            </a:pPr>
            <a:r>
              <a:rPr lang="en-US" b="1"/>
              <a:t>Step 4: Configure Settings (Optional)</a:t>
            </a:r>
            <a:endParaRPr lang="en-US"/>
          </a:p>
          <a:p>
            <a:pPr marL="0" indent="0">
              <a:buNone/>
            </a:pPr>
            <a:r>
              <a:rPr lang="en-US" sz="2700" i="1"/>
              <a:t>You can customize almost every part of VS Code through its settings. </a:t>
            </a:r>
            <a:endParaRPr lang="en-US" sz="2700" i="1"/>
          </a:p>
          <a:p>
            <a:pPr marL="0" indent="0">
              <a:buNone/>
            </a:pPr>
            <a:endParaRPr lang="en-US" sz="2500" i="1"/>
          </a:p>
          <a:p>
            <a:r>
              <a:rPr lang="en-US" sz="2500" i="1"/>
              <a:t>    Open the Settings Editor by pressing Ctrl+, (or Cmd+, on macOS) or via File &gt; Preferences &gt; Settings.</a:t>
            </a:r>
            <a:endParaRPr lang="en-US" sz="2500" i="1"/>
          </a:p>
          <a:p>
            <a:endParaRPr lang="en-US" sz="2500" i="1"/>
          </a:p>
          <a:p>
            <a:r>
              <a:rPr lang="en-US" sz="2500" i="1"/>
              <a:t>    Auto Save: In the settings search bar, type "Auto Save" and change the value from Off to afterDelay or onWindowChange so you don't lose work.</a:t>
            </a:r>
            <a:endParaRPr lang="en-US" sz="2500" i="1"/>
          </a:p>
          <a:p>
            <a:endParaRPr lang="en-US" sz="2500" i="1"/>
          </a:p>
          <a:p>
            <a:r>
              <a:rPr lang="en-US" sz="2500" i="1"/>
              <a:t>    Explore other settings like color themes, font size (Ctrl++ to zoom in), and integrated terminal shell. </a:t>
            </a:r>
            <a:endParaRPr lang="en-US" sz="2500" i="1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DEMO								05</a:t>
            </a:r>
            <a:endParaRPr lang="en-US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Content Placeholder 5" descr="Screenshot_2025-11-27_02_12_2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32505" y="1846580"/>
            <a:ext cx="8049895" cy="45262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09600" y="3925570"/>
            <a:ext cx="17018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/>
              <a:t>HOME VIEW</a:t>
            </a:r>
            <a:endParaRPr lang="en-US" b="1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DEMO</a:t>
            </a:r>
            <a:endParaRPr lang="en-US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Content Placeholder 3" descr="Screenshot_2025-11-27_02_12_42"/>
          <p:cNvPicPr>
            <a:picLocks noChangeAspect="1"/>
          </p:cNvPicPr>
          <p:nvPr>
            <p:ph idx="1"/>
          </p:nvPr>
        </p:nvPicPr>
        <p:blipFill>
          <a:blip r:embed="rId1"/>
          <a:srcRect t="500" r="53427" b="-500"/>
          <a:stretch>
            <a:fillRect/>
          </a:stretch>
        </p:blipFill>
        <p:spPr>
          <a:xfrm>
            <a:off x="4879340" y="274955"/>
            <a:ext cx="5201920" cy="60388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830070" y="3495675"/>
            <a:ext cx="1449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/>
              <a:t>SETTINGS</a:t>
            </a:r>
            <a:endParaRPr lang="en-US" b="1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DEMO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830070" y="3495675"/>
            <a:ext cx="2092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/>
              <a:t>EXPLORE PAGE</a:t>
            </a:r>
            <a:endParaRPr lang="en-US" b="1"/>
          </a:p>
        </p:txBody>
      </p:sp>
      <p:pic>
        <p:nvPicPr>
          <p:cNvPr id="5" name="Content Placeholder 4" descr="Screenshot_2025-11-27_02_12_54"/>
          <p:cNvPicPr>
            <a:picLocks noChangeAspect="1"/>
          </p:cNvPicPr>
          <p:nvPr>
            <p:ph idx="1"/>
          </p:nvPr>
        </p:nvPicPr>
        <p:blipFill>
          <a:blip r:embed="rId1"/>
          <a:srcRect l="-37619" r="37619" b="-1010"/>
          <a:stretch>
            <a:fillRect/>
          </a:stretch>
        </p:blipFill>
        <p:spPr>
          <a:xfrm>
            <a:off x="1169035" y="478155"/>
            <a:ext cx="9853930" cy="563435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DEMO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428750" y="3512185"/>
            <a:ext cx="23450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/>
              <a:t>RUN AND DEBUG</a:t>
            </a:r>
            <a:endParaRPr lang="en-US" b="1"/>
          </a:p>
        </p:txBody>
      </p:sp>
      <p:pic>
        <p:nvPicPr>
          <p:cNvPr id="5" name="Content Placeholder 4" descr="Screenshot_2025-11-27_02_13_08"/>
          <p:cNvPicPr>
            <a:picLocks noChangeAspect="1"/>
          </p:cNvPicPr>
          <p:nvPr>
            <p:ph idx="1"/>
          </p:nvPr>
        </p:nvPicPr>
        <p:blipFill>
          <a:blip r:embed="rId1"/>
          <a:srcRect t="-2020" r="38661" b="2020"/>
          <a:stretch>
            <a:fillRect/>
          </a:stretch>
        </p:blipFill>
        <p:spPr>
          <a:xfrm>
            <a:off x="4260850" y="384175"/>
            <a:ext cx="6644005" cy="609028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DEMO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428750" y="3512185"/>
            <a:ext cx="18186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/>
              <a:t>EXTENSIONS</a:t>
            </a:r>
            <a:endParaRPr lang="en-US" b="1"/>
          </a:p>
        </p:txBody>
      </p:sp>
      <p:pic>
        <p:nvPicPr>
          <p:cNvPr id="4" name="Content Placeholder 3" descr="Screenshot_2025-11-27_02_13_13"/>
          <p:cNvPicPr>
            <a:picLocks noChangeAspect="1"/>
          </p:cNvPicPr>
          <p:nvPr>
            <p:ph idx="1"/>
          </p:nvPr>
        </p:nvPicPr>
        <p:blipFill>
          <a:blip r:embed="rId1"/>
          <a:srcRect r="38661"/>
          <a:stretch>
            <a:fillRect/>
          </a:stretch>
        </p:blipFill>
        <p:spPr>
          <a:xfrm>
            <a:off x="4596130" y="529590"/>
            <a:ext cx="6325870" cy="579882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DEMO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428750" y="3512185"/>
            <a:ext cx="12852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b="1"/>
              <a:t>COPILOT</a:t>
            </a:r>
            <a:endParaRPr lang="en-US" b="1"/>
          </a:p>
        </p:txBody>
      </p:sp>
      <p:pic>
        <p:nvPicPr>
          <p:cNvPr id="5" name="Content Placeholder 4" descr="Screenshot_2025-11-27_02_13_26"/>
          <p:cNvPicPr>
            <a:picLocks noChangeAspect="1"/>
          </p:cNvPicPr>
          <p:nvPr>
            <p:ph idx="1"/>
          </p:nvPr>
        </p:nvPicPr>
        <p:blipFill>
          <a:blip r:embed="rId1"/>
          <a:srcRect l="51518" r="-51479" b="1010"/>
          <a:stretch>
            <a:fillRect/>
          </a:stretch>
        </p:blipFill>
        <p:spPr>
          <a:xfrm>
            <a:off x="4636135" y="274955"/>
            <a:ext cx="11267440" cy="62738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Conclusion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sz="3000" i="1"/>
          </a:p>
          <a:p>
            <a:pPr marL="0" indent="0">
              <a:buNone/>
            </a:pPr>
            <a:endParaRPr lang="en-US" sz="3000" i="1"/>
          </a:p>
          <a:p>
            <a:pPr marL="0" indent="0" algn="ctr">
              <a:buNone/>
            </a:pPr>
            <a:r>
              <a:rPr lang="en-US" sz="3000" i="1"/>
              <a:t>In conclusion, understanding the full functionality of VS code, how it works and its key functionalities is a huge step for our project, since it will be used for over 80% of the actual work. </a:t>
            </a:r>
            <a:endParaRPr lang="en-US" sz="3000" i="1"/>
          </a:p>
          <a:p>
            <a:pPr marL="0" indent="0" algn="ctr">
              <a:buNone/>
            </a:pPr>
            <a:endParaRPr lang="en-US" sz="3000" b="1" i="1"/>
          </a:p>
          <a:p>
            <a:pPr marL="0" indent="0" algn="ctr">
              <a:buNone/>
            </a:pPr>
            <a:endParaRPr lang="en-US" sz="3000" b="1" i="1"/>
          </a:p>
          <a:p>
            <a:pPr marL="0" indent="0" algn="ctr">
              <a:buNone/>
            </a:pPr>
            <a:r>
              <a:rPr lang="en-US" sz="3000" b="1" i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Hence work has began!</a:t>
            </a:r>
            <a:endParaRPr lang="en-US" sz="3000" b="1" i="1"/>
          </a:p>
          <a:p>
            <a:pPr marL="0" indent="0">
              <a:buNone/>
            </a:pPr>
            <a:endParaRPr lang="en-US" sz="3000" b="1" i="1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480907" y="524510"/>
            <a:ext cx="11231033" cy="1470025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  <a:endParaRPr 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Subtit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80695" y="1994535"/>
            <a:ext cx="3783330" cy="694690"/>
          </a:xfrm>
        </p:spPr>
        <p:txBody>
          <a:bodyPr/>
          <a:p>
            <a:r>
              <a:rPr lang="en-US" b="1"/>
              <a:t>TEAM MEMBER</a:t>
            </a:r>
            <a:endParaRPr lang="en-US" b="1"/>
          </a:p>
        </p:txBody>
      </p:sp>
      <p:sp>
        <p:nvSpPr>
          <p:cNvPr id="5" name="Text Box 4"/>
          <p:cNvSpPr txBox="1"/>
          <p:nvPr/>
        </p:nvSpPr>
        <p:spPr>
          <a:xfrm>
            <a:off x="732155" y="2689225"/>
            <a:ext cx="383984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342900" indent="-342900">
              <a:buAutoNum type="arabicPeriod"/>
            </a:pPr>
            <a:r>
              <a:rPr lang="en-US" b="1"/>
              <a:t>ASONGAFAC DESTINY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NGUALEA VIOLEI ASONGU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BANYIN MARCEL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NSEMEN PHILLIS NANA</a:t>
            </a:r>
            <a:endParaRPr lang="en-US" b="1"/>
          </a:p>
          <a:p>
            <a:pPr marL="342900" indent="-342900">
              <a:buAutoNum type="arabicPeriod"/>
            </a:pPr>
            <a:r>
              <a:rPr lang="en-US" b="1"/>
              <a:t>NWUFOR MAVELLOUS</a:t>
            </a:r>
            <a:endParaRPr 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9362</Words>
  <Application>WPS Presentation</Application>
  <PresentationFormat>宽屏</PresentationFormat>
  <Paragraphs>457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9" baseType="lpstr">
      <vt:lpstr>Arial</vt:lpstr>
      <vt:lpstr>SimSun</vt:lpstr>
      <vt:lpstr>Wingdings</vt:lpstr>
      <vt:lpstr>DejaVu Sans</vt:lpstr>
      <vt:lpstr>Microsoft YaHei</vt:lpstr>
      <vt:lpstr>Droid Sans Fallback</vt:lpstr>
      <vt:lpstr>Arial Unicode MS</vt:lpstr>
      <vt:lpstr>SimSun</vt:lpstr>
      <vt:lpstr>FontAwesome</vt:lpstr>
      <vt:lpstr>GLYPHICONS Halflings</vt:lpstr>
      <vt:lpstr>Wingdings</vt:lpstr>
      <vt:lpstr>Quicksand Light</vt:lpstr>
      <vt:lpstr>Default Design</vt:lpstr>
      <vt:lpstr>TASK 1</vt:lpstr>
      <vt:lpstr>Community Service Application</vt:lpstr>
      <vt:lpstr>WHAT IS “COME SERVE”</vt:lpstr>
      <vt:lpstr>primary goal</vt:lpstr>
      <vt:lpstr>Goals</vt:lpstr>
      <vt:lpstr>Key Features</vt:lpstr>
      <vt:lpstr>User Accounts and Profiles</vt:lpstr>
      <vt:lpstr>Event Discovery</vt:lpstr>
      <vt:lpstr>Feedback and Reviews</vt:lpstr>
      <vt:lpstr>PowerPoint 演示文稿</vt:lpstr>
      <vt:lpstr>THANK YOU</vt:lpstr>
      <vt:lpstr>TASK 2</vt:lpstr>
      <vt:lpstr>Community Service Application</vt:lpstr>
      <vt:lpstr>Introduction to Version control</vt:lpstr>
      <vt:lpstr>Objectives</vt:lpstr>
      <vt:lpstr>Key Git Commands				02</vt:lpstr>
      <vt:lpstr>Key Git Commands</vt:lpstr>
      <vt:lpstr>Collaboration workflow 		03</vt:lpstr>
      <vt:lpstr>GitHub Demonstration			04	</vt:lpstr>
      <vt:lpstr>Repository</vt:lpstr>
      <vt:lpstr>GitHub outcome</vt:lpstr>
      <vt:lpstr>Learning Outcome 				05</vt:lpstr>
      <vt:lpstr>Conclusion</vt:lpstr>
      <vt:lpstr>THANK YOU</vt:lpstr>
      <vt:lpstr>TASK 3</vt:lpstr>
      <vt:lpstr>Task 01.	introduction Task 02.	version control with git and GitHub  Today: AGILE DEVELOPMENT METHODOLOGY, WITH SCRUM</vt:lpstr>
      <vt:lpstr>AGENDA</vt:lpstr>
      <vt:lpstr>WHAT IS AGILE?</vt:lpstr>
      <vt:lpstr>Why it Matters for "Come Serve"</vt:lpstr>
      <vt:lpstr>WHAT IS SCRUM? 				02</vt:lpstr>
      <vt:lpstr>The Three Scrum Roles</vt:lpstr>
      <vt:lpstr>PowerPoint 演示文稿</vt:lpstr>
      <vt:lpstr>PowerPoint 演示文稿</vt:lpstr>
      <vt:lpstr>Our Tool of Choice: Trello.io	03</vt:lpstr>
      <vt:lpstr>collaboration</vt:lpstr>
      <vt:lpstr>TASKS TO BE DONE WITH TRELLO</vt:lpstr>
      <vt:lpstr>DIFFERENT CARDS CREATED: 04</vt:lpstr>
      <vt:lpstr>PowerPoint 演示文稿</vt:lpstr>
      <vt:lpstr>PowerPoint 演示文稿</vt:lpstr>
      <vt:lpstr>SPRINT ONE						05</vt:lpstr>
      <vt:lpstr>SPRINT ONE: TASKS</vt:lpstr>
      <vt:lpstr>SPRINT ONE: TASKS</vt:lpstr>
      <vt:lpstr>SPRINT TWO</vt:lpstr>
      <vt:lpstr>Conclusion</vt:lpstr>
      <vt:lpstr>THANK YOU</vt:lpstr>
      <vt:lpstr>TASK 3</vt:lpstr>
      <vt:lpstr>Task 01.	introduction Task 02.	version control with git and GitHub  Today: AGILE DEVELOPMENT METHODOLOGY, WITH SCRUM</vt:lpstr>
      <vt:lpstr>AGENDA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DEMO</vt:lpstr>
      <vt:lpstr>DEMO</vt:lpstr>
      <vt:lpstr>DEMO</vt:lpstr>
      <vt:lpstr>DEMO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destino</cp:lastModifiedBy>
  <cp:revision>125</cp:revision>
  <dcterms:created xsi:type="dcterms:W3CDTF">2025-11-27T01:32:32Z</dcterms:created>
  <dcterms:modified xsi:type="dcterms:W3CDTF">2025-11-27T01:32:32Z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